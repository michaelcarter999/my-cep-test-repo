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Alarms operators see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E6EDF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8717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4D399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Before correlation</c:v>
                  </c:pt>
                  <c:pt idx="1">
                    <c:v>After correlation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200</c:v>
                </c:pt>
                <c:pt idx="1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E6EDF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A0B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F2A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A0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17"/>
        </a:solidFill>
        <a:ln>
          <a:noFill/>
        </a:ln>
        <a:effectLst/>
      </c:spPr>
    </c:plotArea>
    <c:plotVisOnly val="1"/>
    <c:dispBlanksAs val="span"/>
  </c:chart>
  <c:spPr>
    <a:solidFill>
      <a:srgbClr val="0B0F17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Frame: this is a capability demo, not an anti-vendor rant. The claim is that the *capability* is commodity; the *price* buys carrier-scale runtime and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630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3774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Alarm Correlation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640080" y="329184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…without the platform tax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640080" y="41148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Topology-aware root-cause suppression on open-source tooling — Zabbix, Nautobot, a small Python CEP sidecar, Grafana.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demo · alternative to the HPE / OpenText TeMIP route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a NOC actually has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fault. Hundreds of alarms. Operators drown in symptoms.</a:t>
            </a:r>
            <a:endParaRPr lang="en-US" sz="15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37360"/>
            <a:ext cx="640080" cy="640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2560320"/>
            <a:ext cx="3383280" cy="3108960"/>
          </a:xfrm>
          <a:prstGeom prst="roundRect">
            <a:avLst>
              <a:gd name="adj" fmla="val 2353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0080" y="292608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7200" dirty="0"/>
          </a:p>
        </p:txBody>
      </p:sp>
      <p:sp>
        <p:nvSpPr>
          <p:cNvPr id="7" name="Text 4"/>
          <p:cNvSpPr/>
          <p:nvPr/>
        </p:nvSpPr>
        <p:spPr>
          <a:xfrm>
            <a:off x="822960" y="40233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alarms from ONE upstream failure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480560" y="2743200"/>
            <a:ext cx="6949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device behind the fault alarms independently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way to tell the cause from the consequences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→ real incidents missed</a:t>
            </a:r>
            <a:endParaRPr lang="en-US" sz="18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gap TeMIP is sold to close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TeMIP sells — and where it's beatable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45920"/>
          <a:ext cx="10881360" cy="4206240"/>
        </p:xfrm>
        <a:graphic>
          <a:graphicData uri="http://schemas.openxmlformats.org/drawingml/2006/table">
            <a:tbl>
              <a:tblPr/>
              <a:tblGrid>
                <a:gridCol w="3291840"/>
                <a:gridCol w="3931920"/>
                <a:gridCol w="36576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TeMIP claim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AA0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Open-stack answer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826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Vendor-neutral normalisation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A0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 inventory + tagging problem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Nautobot is the source of truth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Topology-aware RCA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A0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Drools rule engine over a topology model (UCA EBC)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networkx graph + windowed rules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Carrier scale (millions/s)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A0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real reason for the price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+ FlinkCEP/Drools — open source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6ED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X.733 lifecycle / state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AA0B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4D3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 ROOT/SYMPTOM/CLEARED states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A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0F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what you already run; adds one Python container.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1214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Nautobot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+ dependency (GraphQL)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49300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Zabbix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problems you already collect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29000" y="3840480"/>
            <a:ext cx="100584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0" y="2697480"/>
            <a:ext cx="3017520" cy="914400"/>
          </a:xfrm>
          <a:prstGeom prst="roundRect">
            <a:avLst>
              <a:gd name="adj" fmla="val 8000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280720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 sidecar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windowed topology-keyed RCA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635240" y="2743200"/>
            <a:ext cx="91440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6800" y="201168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823960" y="21214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23960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· latency · ratio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635240" y="3566160"/>
            <a:ext cx="914400" cy="0"/>
          </a:xfrm>
          <a:prstGeom prst="line">
            <a:avLst/>
          </a:prstGeom>
          <a:noFill/>
          <a:ln w="25400">
            <a:solidFill>
              <a:srgbClr val="60A5FA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86800" y="3383280"/>
            <a:ext cx="2834640" cy="914400"/>
          </a:xfrm>
          <a:prstGeom prst="roundRect">
            <a:avLst>
              <a:gd name="adj" fmla="val 8000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823960" y="3493008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Flow UI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23960" y="3886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correlation visual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0" y="3383280"/>
            <a:ext cx="0" cy="0"/>
          </a:xfrm>
          <a:prstGeom prst="line">
            <a:avLst/>
          </a:prstGeom>
          <a:noFill/>
          <a:ln w="12700">
            <a:solidFill>
              <a:srgbClr val="1F2A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943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deterministic rule, three runtimes — pure Python (lab) → +Redis (mid) → Kafka+Flink/Drools (carrier).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network — 32 nodes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RSTP-protected rings (mstpd) + long routed spurs (FRR/OSPF).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2606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73152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RSTP ring switches (3x6)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92024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10312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2606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11" name="Text 7"/>
          <p:cNvSpPr/>
          <p:nvPr/>
        </p:nvSpPr>
        <p:spPr>
          <a:xfrm>
            <a:off x="338328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FRR distribution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943600" y="192024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10312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35040" y="2606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4000" dirty="0"/>
          </a:p>
        </p:txBody>
      </p:sp>
      <p:sp>
        <p:nvSpPr>
          <p:cNvPr id="15" name="Text 10"/>
          <p:cNvSpPr/>
          <p:nvPr/>
        </p:nvSpPr>
        <p:spPr>
          <a:xfrm>
            <a:off x="603504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 routers (chains)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8595360" y="1920240"/>
            <a:ext cx="2468880" cy="1828800"/>
          </a:xfrm>
          <a:prstGeom prst="roundRect">
            <a:avLst>
              <a:gd name="adj" fmla="val 4000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0" y="210312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686800" y="260604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9" name="Text 13"/>
          <p:cNvSpPr/>
          <p:nvPr/>
        </p:nvSpPr>
        <p:spPr>
          <a:xfrm>
            <a:off x="868680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redundant cores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40080" y="411480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 members have no RCA parent — RSTP protects them, so a single ring-link break must NOT cascade. The correlator proves that contrast.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Spurs are single-threaded — losing the head cascades down the whole chain, producing the high suppression ratios that sell the story.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that lands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root cause absorbs the storm — measured live in Grafana.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291840" cy="3749040"/>
          </a:xfrm>
          <a:prstGeom prst="roundRect">
            <a:avLst>
              <a:gd name="adj" fmla="val 2222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1488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83464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640080" y="38404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4297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sub-millisecond per alarm · on a laptop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297680" y="2011680"/>
          <a:ext cx="72237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rule, three runtimes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is constant. Only the engine changes with scale.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/ regional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868680" y="3429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Python sidecar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8680" y="4297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1000s alarms/s · the demo · most real needs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15968" y="20116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4568" y="2240280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44568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</a:t>
            </a:r>
            <a:endParaRPr lang="en-US" sz="2000" dirty="0"/>
          </a:p>
        </p:txBody>
      </p:sp>
      <p:sp>
        <p:nvSpPr>
          <p:cNvPr id="12" name="Text 8"/>
          <p:cNvSpPr/>
          <p:nvPr/>
        </p:nvSpPr>
        <p:spPr>
          <a:xfrm>
            <a:off x="4544568" y="3429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Redis (N workers)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44568" y="4297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10k+/s · national network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91856" y="2011680"/>
            <a:ext cx="3520440" cy="3383280"/>
          </a:xfrm>
          <a:prstGeom prst="roundRect">
            <a:avLst>
              <a:gd name="adj" fmla="val 2162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0456" y="224028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0456" y="28803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2000" dirty="0"/>
          </a:p>
        </p:txBody>
      </p:sp>
      <p:sp>
        <p:nvSpPr>
          <p:cNvPr id="17" name="Text 12"/>
          <p:cNvSpPr/>
          <p:nvPr/>
        </p:nvSpPr>
        <p:spPr>
          <a:xfrm>
            <a:off x="8220456" y="3429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+ FlinkCEP / Drools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0456" y="42976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millions/s · the only tier that may justify TeMIP — still open source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57150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TeMIP / UCA EBC is literally a Drools rule engine over a topology model. We demonstrate the same architecture.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caveats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these in the room — they build credibility.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240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08483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TeMIP is mature &amp; carrier-grade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554480" y="249631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true telco volumes with strict SLAs and 24/7 vendor support, it earns its place.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5661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341071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demo's engine is lab-tier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1554480" y="382219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production equivalent is Kafka + FlinkCEP/Drools — real engineering, not a weekend.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45720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121826"/>
          </a:solidFill>
          <a:ln w="12700">
            <a:solidFill>
              <a:srgbClr val="1F2A3D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8920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54480" y="4736592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 isn't the engine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1554480" y="5148072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keeping the dependency graph accurate — a data discipline you need regardless of vendor.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71600"/>
            <a:ext cx="82296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28600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3800" dirty="0"/>
          </a:p>
        </p:txBody>
      </p:sp>
      <p:sp>
        <p:nvSpPr>
          <p:cNvPr id="4" name="Text 1"/>
          <p:cNvSpPr/>
          <p:nvPr/>
        </p:nvSpPr>
        <p:spPr>
          <a:xfrm>
            <a:off x="640080" y="3200400"/>
            <a:ext cx="10607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open stack for the regional / mid tier — it covers the majority of real correlation needs.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E6ED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a carrier-grade evaluation for the specific contracts that genuinely run at millions-of-alarms scale.</a:t>
            </a:r>
            <a:endParaRPr lang="en-US" sz="1900" dirty="0"/>
          </a:p>
          <a:p>
            <a:pPr marL="342900" indent="-342900">
              <a:spcAft>
                <a:spcPts val="1600"/>
              </a:spcAft>
              <a:buSzPct val="100000"/>
              <a:buChar char="•"/>
            </a:pPr>
            <a:r>
              <a:rPr lang="en-US" sz="19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capability first with this demo. Let the scale requirement — not the vendor pitch — drive any spend.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4008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A0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github.com/mmorrow24work/CEP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CEP — Deterministic Alarm Correlation</dc:title>
  <dc:subject>PptxGenJS Presentation</dc:subject>
  <dc:creator>Mick Morrow</dc:creator>
  <cp:lastModifiedBy>Mick Morrow</cp:lastModifiedBy>
  <cp:revision>1</cp:revision>
  <dcterms:created xsi:type="dcterms:W3CDTF">2026-06-14T03:46:44Z</dcterms:created>
  <dcterms:modified xsi:type="dcterms:W3CDTF">2026-06-14T03:46:44Z</dcterms:modified>
</cp:coreProperties>
</file>